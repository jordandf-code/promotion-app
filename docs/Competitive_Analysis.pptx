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1800" spc="-1" strike="noStrike">
                <a:solidFill>
                  <a:schemeClr val="dk1"/>
                </a:solidFill>
                <a:latin typeface="Calibri"/>
              </a:rPr>
              <a:t>Click to move the </a:t>
            </a:r>
            <a:r>
              <a:rPr b="0" lang="en-CA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CA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5ABD8BC-4C75-42EB-B081-F34686D0C797}" type="slidenum"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F3DFFA-D8E8-4578-B172-F0BA321692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F099F6-7FA7-4AFA-BEF6-7EF3D2938B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EFCBE3-6D28-442A-A39C-0846D54323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39336-7BFF-4A36-8945-ABA314EED9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521C78-25B8-4345-92D8-B69127243D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22984A-CFDB-406D-88A0-63AFA6D3500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69CB2B-509A-4A9E-8767-6BCAB19C8E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26DC84-26C1-452F-8942-C44B260572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5E1495-6650-45E2-AB3A-CDFB7CB07A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chemeClr val="dk1"/>
                </a:solidFill>
                <a:latin typeface="Calibri"/>
              </a:rPr>
              <a:t>Click to edit the title </a:t>
            </a:r>
            <a:r>
              <a:rPr b="0" lang="en-CA" sz="1800" spc="-1" strike="noStrike">
                <a:solidFill>
                  <a:schemeClr val="dk1"/>
                </a:solidFill>
                <a:latin typeface="Calibri"/>
              </a:rPr>
              <a:t>text format</a:t>
            </a:r>
            <a:endParaRPr b="0" lang="en-CA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CA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CA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CA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CA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CA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CA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CA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731520" y="13716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Arial"/>
              </a:rPr>
              <a:t>Competitive Analysis</a:t>
            </a:r>
            <a:endParaRPr b="0" lang="en-CA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31520" y="246888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90caf9"/>
                </a:solidFill>
                <a:latin typeface="Arial"/>
                <a:ea typeface="Arial"/>
              </a:rPr>
              <a:t>Career Command Center</a:t>
            </a:r>
            <a:endParaRPr b="0" lang="en-CA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31520" y="3474720"/>
            <a:ext cx="2285640" cy="54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374904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0caf9"/>
                </a:solidFill>
                <a:latin typeface="Arial"/>
                <a:ea typeface="Arial"/>
              </a:rPr>
              <a:t>Promotion Tracker for Professional Services</a:t>
            </a:r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502920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b7280"/>
                </a:solidFill>
                <a:latin typeface="Arial"/>
                <a:ea typeface="Arial"/>
              </a:rPr>
              <a:t>April 2026</a:t>
            </a:r>
            <a:endParaRPr b="0" lang="en-CA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731520" y="36576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4a"/>
                </a:solidFill>
                <a:latin typeface="Arial"/>
                <a:ea typeface="Arial"/>
              </a:rPr>
              <a:t>The Opportunity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731520" y="1051560"/>
            <a:ext cx="1645560" cy="45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731520" y="1645920"/>
            <a:ext cx="2559960" cy="219420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731520" y="18288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d5aa0"/>
                </a:solidFill>
                <a:latin typeface="Arial"/>
                <a:ea typeface="Arial"/>
              </a:rPr>
              <a:t>$6.3B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731520" y="265176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Arial"/>
                <a:ea typeface="Arial"/>
              </a:rPr>
              <a:t>AI career tools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Arial"/>
                <a:ea typeface="Arial"/>
              </a:rPr>
              <a:t>market by 2027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3566160" y="1645920"/>
            <a:ext cx="2559960" cy="219420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3566160" y="18288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53935"/>
                </a:solidFill>
                <a:latin typeface="Arial"/>
                <a:ea typeface="Arial"/>
              </a:rPr>
              <a:t>$0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3566160" y="265176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Arial"/>
                <a:ea typeface="Arial"/>
              </a:rPr>
              <a:t>Spent on internal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Arial"/>
                <a:ea typeface="Arial"/>
              </a:rPr>
              <a:t>promotion tracking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6400800" y="1645920"/>
            <a:ext cx="2559960" cy="219420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6400800" y="18288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9800"/>
                </a:solidFill>
                <a:latin typeface="Arial"/>
                <a:ea typeface="Arial"/>
              </a:rPr>
              <a:t>13-17yr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6400800" y="265176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Arial"/>
                <a:ea typeface="Arial"/>
              </a:rPr>
              <a:t>Path to Partner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Arial"/>
                <a:ea typeface="Arial"/>
              </a:rPr>
              <a:t>at Big 4 firms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9235440" y="1645920"/>
            <a:ext cx="2559960" cy="219420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9235440" y="18288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caf50"/>
                </a:solidFill>
                <a:latin typeface="Arial"/>
                <a:ea typeface="Arial"/>
              </a:rPr>
              <a:t>$250K-$5M+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9235440" y="265176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Arial"/>
                <a:ea typeface="Arial"/>
              </a:rPr>
              <a:t>Partner compensation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Arial"/>
                <a:ea typeface="Arial"/>
              </a:rPr>
              <a:t>(high stakes)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731520" y="429768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1f2937"/>
                </a:solidFill>
                <a:latin typeface="Arial"/>
                <a:ea typeface="Arial"/>
              </a:rPr>
              <a:t>No tool exists that combines promotion criteria tracking, quantitative scorecards, relationship CRM,</a:t>
            </a:r>
            <a:endParaRPr b="0" lang="en-CA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1f2937"/>
                </a:solidFill>
                <a:latin typeface="Arial"/>
                <a:ea typeface="Arial"/>
              </a:rPr>
              <a:t>opportunity pipeline, AI gap analysis, and narrative generation for professionals pursuing Partner.</a:t>
            </a:r>
            <a:endParaRPr b="0" lang="en-CA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731520" y="52120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53935"/>
                </a:solidFill>
                <a:latin typeface="Arial"/>
                <a:ea typeface="Arial"/>
              </a:rPr>
              <a:t>The current "competition" is spreadsheets and $300-500/hr executive coaches.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731520" y="36576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b2a4a"/>
                </a:solidFill>
                <a:latin typeface="Arial"/>
                <a:ea typeface="Arial"/>
              </a:rPr>
              <a:t>Market Landscape: 5 Categories, 0 Fit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731520" y="1051560"/>
            <a:ext cx="1645560" cy="45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731520" y="1371600"/>
            <a:ext cx="10698120" cy="86832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731520" y="1371600"/>
            <a:ext cx="109440" cy="868320"/>
          </a:xfrm>
          <a:prstGeom prst="rect">
            <a:avLst/>
          </a:prstGeom>
          <a:solidFill>
            <a:srgbClr val="2d5a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1005840" y="137160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Job Search Tools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3200400" y="137160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Arial"/>
                <a:ea typeface="Arial"/>
              </a:rPr>
              <a:t>Teal, Careerflow, Huntr, AIApply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5669280" y="137160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Help you LEAVE — zero features for internal advancement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731520" y="2377440"/>
            <a:ext cx="10698120" cy="86832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731520" y="2377440"/>
            <a:ext cx="109440" cy="868320"/>
          </a:xfrm>
          <a:prstGeom prst="rect">
            <a:avLst/>
          </a:prstGeom>
          <a:solidFill>
            <a:srgbClr val="ff98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1005840" y="237744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Brag Doc Tools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3200400" y="237744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Arial"/>
                <a:ea typeface="Arial"/>
              </a:rPr>
              <a:t>Climb, BragJournal, BragDoc.ai, SuccessSnap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5669280" y="237744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No metrics, no criteria framework, no analysis — just a journal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2"/>
          <p:cNvSpPr/>
          <p:nvPr/>
        </p:nvSpPr>
        <p:spPr>
          <a:xfrm>
            <a:off x="731520" y="3383280"/>
            <a:ext cx="10698120" cy="86832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731520" y="3383280"/>
            <a:ext cx="109440" cy="868320"/>
          </a:xfrm>
          <a:prstGeom prst="rect">
            <a:avLst/>
          </a:prstGeom>
          <a:solidFill>
            <a:srgbClr val="9c27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1005840" y="338328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AI Career Coaches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3200400" y="338328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Arial"/>
                <a:ea typeface="Arial"/>
              </a:rPr>
              <a:t>Rocky.ai, Aptitune, Marlee, CoachHub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5669280" y="338328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Generic coaching chat — no structured data tracking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731520" y="4389120"/>
            <a:ext cx="10698120" cy="86832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731520" y="4389120"/>
            <a:ext cx="109440" cy="868320"/>
          </a:xfrm>
          <a:prstGeom prst="rect">
            <a:avLst/>
          </a:prstGeom>
          <a:solidFill>
            <a:srgbClr val="e539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1005840" y="438912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Enterprise HR Platforms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3200400" y="438912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Arial"/>
                <a:ea typeface="Arial"/>
              </a:rPr>
              <a:t>Lattice, TalentGuard, Fuel50, 15Five, Betterworks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5669280" y="438912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Require company adoption — individual cannot sign up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2"/>
          <p:cNvSpPr/>
          <p:nvPr/>
        </p:nvSpPr>
        <p:spPr>
          <a:xfrm>
            <a:off x="731520" y="5394960"/>
            <a:ext cx="10698120" cy="86832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3"/>
          <p:cNvSpPr/>
          <p:nvPr/>
        </p:nvSpPr>
        <p:spPr>
          <a:xfrm>
            <a:off x="731520" y="5394960"/>
            <a:ext cx="109440" cy="868320"/>
          </a:xfrm>
          <a:prstGeom prst="rect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1005840" y="539496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Promotion Assessments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3200400" y="5394960"/>
            <a:ext cx="22856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Arial"/>
                <a:ea typeface="Arial"/>
              </a:rPr>
              <a:t>Resumly readiness quiz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5669280" y="539496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Single quiz, no ongoing tracking, no data model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731520" y="36576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b2a4a"/>
                </a:solidFill>
                <a:latin typeface="Arial"/>
                <a:ea typeface="Arial"/>
              </a:rPr>
              <a:t>Key Competitors: Deep Dive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731520" y="1051560"/>
            <a:ext cx="1645560" cy="45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731520" y="1371600"/>
            <a:ext cx="10698120" cy="11426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1005840" y="141732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Teal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2834640" y="141732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Arial"/>
                <a:ea typeface="Arial"/>
              </a:rPr>
              <a:t>2M+ users  |  $20.7M raised  |  ~$35M ARR  |  100K paying @ $29/mo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1005840" y="173736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f2937"/>
                </a:solidFill>
                <a:latin typeface="Arial"/>
                <a:ea typeface="Arial"/>
              </a:rPr>
              <a:t>Best-in-class job search platform. AI resume builder, ATS scoring, Chrome extension for 40+ job boards. Strong free tier drives acquisition.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1005840" y="210312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53935"/>
                </a:solidFill>
                <a:latin typeface="Arial"/>
                <a:ea typeface="Arial"/>
              </a:rPr>
              <a:t>Validates career tooling demand. But 100% job-search — zero internal advancement features.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731520" y="2651760"/>
            <a:ext cx="10698120" cy="11426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1005840" y="269748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Lattice Grow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2834640" y="269748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Arial"/>
                <a:ea typeface="Arial"/>
              </a:rPr>
              <a:t>Enterprise  |  $15-17/user/mo  |  G2: 4.7/5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1005840" y="301752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f2937"/>
                </a:solidFill>
                <a:latin typeface="Arial"/>
                <a:ea typeface="Arial"/>
              </a:rPr>
              <a:t>Career tracks with competency matrices. HR defines ladders top-down. Gap visualization via radar charts. Integrates with performance reviews.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1005840" y="338328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53935"/>
                </a:solidFill>
                <a:latin typeface="Arial"/>
                <a:ea typeface="Arial"/>
              </a:rPr>
              <a:t>Closest enterprise analog, but requires company buy-in. Generic competencies, not business metrics.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731520" y="3931920"/>
            <a:ext cx="10698120" cy="11426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1005840" y="397764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Rocky.ai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2834640" y="397764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Arial"/>
                <a:ea typeface="Arial"/>
              </a:rPr>
              <a:t>Individual  |  $9.99/mo  |  25 languages  |  White-label available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1005840" y="429768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f2937"/>
                </a:solidFill>
                <a:latin typeface="Arial"/>
                <a:ea typeface="Arial"/>
              </a:rPr>
              <a:t>Daily 5-min AI coaching (positive psychology). Goal tracking, habit reminders, roleplay practice. Good engagement loop.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1005840" y="466344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53935"/>
                </a:solidFill>
                <a:latin typeface="Arial"/>
                <a:ea typeface="Arial"/>
              </a:rPr>
              <a:t>Best at habit-building. But conversational only — no structured data, metrics, or scorecards.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731520" y="5212080"/>
            <a:ext cx="10698120" cy="11426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1005840" y="525780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Climb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2834640" y="525780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Arial"/>
                <a:ea typeface="Arial"/>
              </a:rPr>
              <a:t>iOS app  |  Individual  |  Gamified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1005840" y="557784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f2937"/>
                </a:solidFill>
                <a:latin typeface="Arial"/>
                <a:ea typeface="Arial"/>
              </a:rPr>
              <a:t>Weekly achievement logging with "level up" gamification. Generates performance review reports.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1005840" y="594360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53935"/>
                </a:solidFill>
                <a:latin typeface="Arial"/>
                <a:ea typeface="Arial"/>
              </a:rPr>
              <a:t>Closest individual tool. Covers ~10% of our app (simplified Wins tab). No scorecard or strategy.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731520" y="36576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b2a4a"/>
                </a:solidFill>
                <a:latin typeface="Arial"/>
                <a:ea typeface="Arial"/>
              </a:rPr>
              <a:t>Feature Comparison Matrix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731520" y="1051560"/>
            <a:ext cx="1645560" cy="45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1097280" y="1280160"/>
            <a:ext cx="2377080" cy="4111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Feature</a:t>
            </a:r>
            <a:endParaRPr b="0" lang="en-CA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3474720" y="1280160"/>
            <a:ext cx="1188360" cy="4111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Our App</a:t>
            </a:r>
            <a:endParaRPr b="0" lang="en-CA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4663440" y="1280160"/>
            <a:ext cx="914040" cy="4111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Teal</a:t>
            </a:r>
            <a:endParaRPr b="0" lang="en-CA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5577840" y="1280160"/>
            <a:ext cx="914040" cy="4111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Climb</a:t>
            </a:r>
            <a:endParaRPr b="0" lang="en-CA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6492240" y="1280160"/>
            <a:ext cx="914040" cy="4111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Rocky</a:t>
            </a:r>
            <a:endParaRPr b="0" lang="en-CA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7406640" y="1280160"/>
            <a:ext cx="1005480" cy="4111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Lattice</a:t>
            </a:r>
            <a:endParaRPr b="0" lang="en-CA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8412480" y="1280160"/>
            <a:ext cx="1188360" cy="411120"/>
          </a:xfrm>
          <a:prstGeom prst="rect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TalentGuard</a:t>
            </a:r>
            <a:endParaRPr b="0" lang="en-CA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1097280" y="1691640"/>
            <a:ext cx="23770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Individual sign-up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3474720" y="169164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4663440" y="169164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5577840" y="169164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6492240" y="169164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7406640" y="1691640"/>
            <a:ext cx="10054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53935"/>
                </a:solidFill>
                <a:latin typeface="Arial"/>
                <a:ea typeface="Arial"/>
              </a:rPr>
              <a:t>NO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8412480" y="169164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53935"/>
                </a:solidFill>
                <a:latin typeface="Arial"/>
                <a:ea typeface="Arial"/>
              </a:rPr>
              <a:t>NO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1097280" y="2057400"/>
            <a:ext cx="23770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Promotion scorecard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3474720" y="205740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4663440" y="205740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5577840" y="205740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6492240" y="205740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7406640" y="2057400"/>
            <a:ext cx="1005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8412480" y="205740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1097280" y="2423160"/>
            <a:ext cx="23770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Business metric tracking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4"/>
          <p:cNvSpPr/>
          <p:nvPr/>
        </p:nvSpPr>
        <p:spPr>
          <a:xfrm>
            <a:off x="3474720" y="242316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4663440" y="242316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5577840" y="242316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6492240" y="242316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8"/>
          <p:cNvSpPr/>
          <p:nvPr/>
        </p:nvSpPr>
        <p:spPr>
          <a:xfrm>
            <a:off x="7406640" y="2423160"/>
            <a:ext cx="10054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9"/>
          <p:cNvSpPr/>
          <p:nvPr/>
        </p:nvSpPr>
        <p:spPr>
          <a:xfrm>
            <a:off x="8412480" y="242316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30"/>
          <p:cNvSpPr/>
          <p:nvPr/>
        </p:nvSpPr>
        <p:spPr>
          <a:xfrm>
            <a:off x="1097280" y="2788920"/>
            <a:ext cx="23770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Win/achievement logging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31"/>
          <p:cNvSpPr/>
          <p:nvPr/>
        </p:nvSpPr>
        <p:spPr>
          <a:xfrm>
            <a:off x="3474720" y="278892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32"/>
          <p:cNvSpPr/>
          <p:nvPr/>
        </p:nvSpPr>
        <p:spPr>
          <a:xfrm>
            <a:off x="4663440" y="278892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Basic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3"/>
          <p:cNvSpPr/>
          <p:nvPr/>
        </p:nvSpPr>
        <p:spPr>
          <a:xfrm>
            <a:off x="5577840" y="278892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4"/>
          <p:cNvSpPr/>
          <p:nvPr/>
        </p:nvSpPr>
        <p:spPr>
          <a:xfrm>
            <a:off x="6492240" y="278892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5"/>
          <p:cNvSpPr/>
          <p:nvPr/>
        </p:nvSpPr>
        <p:spPr>
          <a:xfrm>
            <a:off x="7406640" y="2788920"/>
            <a:ext cx="1005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36"/>
          <p:cNvSpPr/>
          <p:nvPr/>
        </p:nvSpPr>
        <p:spPr>
          <a:xfrm>
            <a:off x="8412480" y="278892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7"/>
          <p:cNvSpPr/>
          <p:nvPr/>
        </p:nvSpPr>
        <p:spPr>
          <a:xfrm>
            <a:off x="1097280" y="3154680"/>
            <a:ext cx="23770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Relationship CRM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8"/>
          <p:cNvSpPr/>
          <p:nvPr/>
        </p:nvSpPr>
        <p:spPr>
          <a:xfrm>
            <a:off x="3474720" y="315468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9"/>
          <p:cNvSpPr/>
          <p:nvPr/>
        </p:nvSpPr>
        <p:spPr>
          <a:xfrm>
            <a:off x="4663440" y="315468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Basic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0"/>
          <p:cNvSpPr/>
          <p:nvPr/>
        </p:nvSpPr>
        <p:spPr>
          <a:xfrm>
            <a:off x="5577840" y="315468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1"/>
          <p:cNvSpPr/>
          <p:nvPr/>
        </p:nvSpPr>
        <p:spPr>
          <a:xfrm>
            <a:off x="6492240" y="315468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2"/>
          <p:cNvSpPr/>
          <p:nvPr/>
        </p:nvSpPr>
        <p:spPr>
          <a:xfrm>
            <a:off x="7406640" y="3154680"/>
            <a:ext cx="10054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43"/>
          <p:cNvSpPr/>
          <p:nvPr/>
        </p:nvSpPr>
        <p:spPr>
          <a:xfrm>
            <a:off x="8412480" y="315468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44"/>
          <p:cNvSpPr/>
          <p:nvPr/>
        </p:nvSpPr>
        <p:spPr>
          <a:xfrm>
            <a:off x="1097280" y="3520440"/>
            <a:ext cx="23770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Opportunity pipeline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5"/>
          <p:cNvSpPr/>
          <p:nvPr/>
        </p:nvSpPr>
        <p:spPr>
          <a:xfrm>
            <a:off x="3474720" y="352044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46"/>
          <p:cNvSpPr/>
          <p:nvPr/>
        </p:nvSpPr>
        <p:spPr>
          <a:xfrm>
            <a:off x="4663440" y="352044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47"/>
          <p:cNvSpPr/>
          <p:nvPr/>
        </p:nvSpPr>
        <p:spPr>
          <a:xfrm>
            <a:off x="5577840" y="352044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8"/>
          <p:cNvSpPr/>
          <p:nvPr/>
        </p:nvSpPr>
        <p:spPr>
          <a:xfrm>
            <a:off x="6492240" y="352044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9"/>
          <p:cNvSpPr/>
          <p:nvPr/>
        </p:nvSpPr>
        <p:spPr>
          <a:xfrm>
            <a:off x="7406640" y="3520440"/>
            <a:ext cx="1005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50"/>
          <p:cNvSpPr/>
          <p:nvPr/>
        </p:nvSpPr>
        <p:spPr>
          <a:xfrm>
            <a:off x="8412480" y="352044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51"/>
          <p:cNvSpPr/>
          <p:nvPr/>
        </p:nvSpPr>
        <p:spPr>
          <a:xfrm>
            <a:off x="1097280" y="3886200"/>
            <a:ext cx="23770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AI gap analysis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52"/>
          <p:cNvSpPr/>
          <p:nvPr/>
        </p:nvSpPr>
        <p:spPr>
          <a:xfrm>
            <a:off x="3474720" y="388620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53"/>
          <p:cNvSpPr/>
          <p:nvPr/>
        </p:nvSpPr>
        <p:spPr>
          <a:xfrm>
            <a:off x="4663440" y="388620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54"/>
          <p:cNvSpPr/>
          <p:nvPr/>
        </p:nvSpPr>
        <p:spPr>
          <a:xfrm>
            <a:off x="5577840" y="388620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55"/>
          <p:cNvSpPr/>
          <p:nvPr/>
        </p:nvSpPr>
        <p:spPr>
          <a:xfrm>
            <a:off x="6492240" y="388620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56"/>
          <p:cNvSpPr/>
          <p:nvPr/>
        </p:nvSpPr>
        <p:spPr>
          <a:xfrm>
            <a:off x="7406640" y="3886200"/>
            <a:ext cx="10054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57"/>
          <p:cNvSpPr/>
          <p:nvPr/>
        </p:nvSpPr>
        <p:spPr>
          <a:xfrm>
            <a:off x="8412480" y="388620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Comp.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58"/>
          <p:cNvSpPr/>
          <p:nvPr/>
        </p:nvSpPr>
        <p:spPr>
          <a:xfrm>
            <a:off x="1097280" y="4251960"/>
            <a:ext cx="23770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AI narrative generation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59"/>
          <p:cNvSpPr/>
          <p:nvPr/>
        </p:nvSpPr>
        <p:spPr>
          <a:xfrm>
            <a:off x="3474720" y="425196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60"/>
          <p:cNvSpPr/>
          <p:nvPr/>
        </p:nvSpPr>
        <p:spPr>
          <a:xfrm>
            <a:off x="4663440" y="425196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Rsme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61"/>
          <p:cNvSpPr/>
          <p:nvPr/>
        </p:nvSpPr>
        <p:spPr>
          <a:xfrm>
            <a:off x="5577840" y="425196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2"/>
          <p:cNvSpPr/>
          <p:nvPr/>
        </p:nvSpPr>
        <p:spPr>
          <a:xfrm>
            <a:off x="6492240" y="425196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63"/>
          <p:cNvSpPr/>
          <p:nvPr/>
        </p:nvSpPr>
        <p:spPr>
          <a:xfrm>
            <a:off x="7406640" y="4251960"/>
            <a:ext cx="1005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64"/>
          <p:cNvSpPr/>
          <p:nvPr/>
        </p:nvSpPr>
        <p:spPr>
          <a:xfrm>
            <a:off x="8412480" y="425196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65"/>
          <p:cNvSpPr/>
          <p:nvPr/>
        </p:nvSpPr>
        <p:spPr>
          <a:xfrm>
            <a:off x="1097280" y="4617720"/>
            <a:ext cx="23770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Readiness score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66"/>
          <p:cNvSpPr/>
          <p:nvPr/>
        </p:nvSpPr>
        <p:spPr>
          <a:xfrm>
            <a:off x="3474720" y="461772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67"/>
          <p:cNvSpPr/>
          <p:nvPr/>
        </p:nvSpPr>
        <p:spPr>
          <a:xfrm>
            <a:off x="4663440" y="461772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68"/>
          <p:cNvSpPr/>
          <p:nvPr/>
        </p:nvSpPr>
        <p:spPr>
          <a:xfrm>
            <a:off x="5577840" y="461772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69"/>
          <p:cNvSpPr/>
          <p:nvPr/>
        </p:nvSpPr>
        <p:spPr>
          <a:xfrm>
            <a:off x="6492240" y="461772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70"/>
          <p:cNvSpPr/>
          <p:nvPr/>
        </p:nvSpPr>
        <p:spPr>
          <a:xfrm>
            <a:off x="7406640" y="4617720"/>
            <a:ext cx="10054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71"/>
          <p:cNvSpPr/>
          <p:nvPr/>
        </p:nvSpPr>
        <p:spPr>
          <a:xfrm>
            <a:off x="8412480" y="461772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Comp.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72"/>
          <p:cNvSpPr/>
          <p:nvPr/>
        </p:nvSpPr>
        <p:spPr>
          <a:xfrm>
            <a:off x="1097280" y="4983480"/>
            <a:ext cx="23770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Year-over-year tracking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73"/>
          <p:cNvSpPr/>
          <p:nvPr/>
        </p:nvSpPr>
        <p:spPr>
          <a:xfrm>
            <a:off x="3474720" y="498348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4"/>
          <p:cNvSpPr/>
          <p:nvPr/>
        </p:nvSpPr>
        <p:spPr>
          <a:xfrm>
            <a:off x="4663440" y="498348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75"/>
          <p:cNvSpPr/>
          <p:nvPr/>
        </p:nvSpPr>
        <p:spPr>
          <a:xfrm>
            <a:off x="5577840" y="498348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76"/>
          <p:cNvSpPr/>
          <p:nvPr/>
        </p:nvSpPr>
        <p:spPr>
          <a:xfrm>
            <a:off x="6492240" y="498348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77"/>
          <p:cNvSpPr/>
          <p:nvPr/>
        </p:nvSpPr>
        <p:spPr>
          <a:xfrm>
            <a:off x="7406640" y="4983480"/>
            <a:ext cx="1005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78"/>
          <p:cNvSpPr/>
          <p:nvPr/>
        </p:nvSpPr>
        <p:spPr>
          <a:xfrm>
            <a:off x="8412480" y="498348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79"/>
          <p:cNvSpPr/>
          <p:nvPr/>
        </p:nvSpPr>
        <p:spPr>
          <a:xfrm>
            <a:off x="1097280" y="5349240"/>
            <a:ext cx="23770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Consulting-specific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80"/>
          <p:cNvSpPr/>
          <p:nvPr/>
        </p:nvSpPr>
        <p:spPr>
          <a:xfrm>
            <a:off x="3474720" y="534924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81"/>
          <p:cNvSpPr/>
          <p:nvPr/>
        </p:nvSpPr>
        <p:spPr>
          <a:xfrm>
            <a:off x="4663440" y="534924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82"/>
          <p:cNvSpPr/>
          <p:nvPr/>
        </p:nvSpPr>
        <p:spPr>
          <a:xfrm>
            <a:off x="5577840" y="534924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83"/>
          <p:cNvSpPr/>
          <p:nvPr/>
        </p:nvSpPr>
        <p:spPr>
          <a:xfrm>
            <a:off x="6492240" y="5349240"/>
            <a:ext cx="91404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84"/>
          <p:cNvSpPr/>
          <p:nvPr/>
        </p:nvSpPr>
        <p:spPr>
          <a:xfrm>
            <a:off x="7406640" y="5349240"/>
            <a:ext cx="100548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85"/>
          <p:cNvSpPr/>
          <p:nvPr/>
        </p:nvSpPr>
        <p:spPr>
          <a:xfrm>
            <a:off x="8412480" y="5349240"/>
            <a:ext cx="1188360" cy="3654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6"/>
          <p:cNvSpPr/>
          <p:nvPr/>
        </p:nvSpPr>
        <p:spPr>
          <a:xfrm>
            <a:off x="1097280" y="5715000"/>
            <a:ext cx="23770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Goal management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87"/>
          <p:cNvSpPr/>
          <p:nvPr/>
        </p:nvSpPr>
        <p:spPr>
          <a:xfrm>
            <a:off x="3474720" y="571500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88"/>
          <p:cNvSpPr/>
          <p:nvPr/>
        </p:nvSpPr>
        <p:spPr>
          <a:xfrm>
            <a:off x="4663440" y="571500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f2937"/>
                </a:solidFill>
                <a:latin typeface="Arial"/>
                <a:ea typeface="Arial"/>
              </a:rPr>
              <a:t>Basic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89"/>
          <p:cNvSpPr/>
          <p:nvPr/>
        </p:nvSpPr>
        <p:spPr>
          <a:xfrm>
            <a:off x="5577840" y="571500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Arial"/>
                <a:ea typeface="Arial"/>
              </a:rPr>
              <a:t>—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0"/>
          <p:cNvSpPr/>
          <p:nvPr/>
        </p:nvSpPr>
        <p:spPr>
          <a:xfrm>
            <a:off x="6492240" y="5715000"/>
            <a:ext cx="91404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91"/>
          <p:cNvSpPr/>
          <p:nvPr/>
        </p:nvSpPr>
        <p:spPr>
          <a:xfrm>
            <a:off x="7406640" y="5715000"/>
            <a:ext cx="100548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2"/>
          <p:cNvSpPr/>
          <p:nvPr/>
        </p:nvSpPr>
        <p:spPr>
          <a:xfrm>
            <a:off x="8412480" y="5715000"/>
            <a:ext cx="1188360" cy="36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50760" tIns="5076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caf50"/>
                </a:solidFill>
                <a:latin typeface="Arial"/>
                <a:ea typeface="Arial"/>
              </a:rPr>
              <a:t>YES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731520" y="36576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How We Differentiate</a:t>
            </a:r>
            <a:endParaRPr b="0" lang="en-CA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731520" y="1051560"/>
            <a:ext cx="1645560" cy="45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731520" y="1463040"/>
            <a:ext cx="5211720" cy="2102760"/>
          </a:xfrm>
          <a:prstGeom prst="roundRect">
            <a:avLst>
              <a:gd name="adj" fmla="val 6522"/>
            </a:avLst>
          </a:prstGeom>
          <a:solidFill>
            <a:srgbClr val="243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1005840" y="164592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caf50"/>
                </a:solidFill>
                <a:latin typeface="Arial"/>
                <a:ea typeface="Arial"/>
              </a:rPr>
              <a:t>Individual-First</a:t>
            </a:r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005840" y="210312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No HR department needed. You sign up, you own your data, you build your case.</a:t>
            </a:r>
            <a:endParaRPr b="0" lang="en-CA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1005840" y="28346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caf9"/>
                </a:solidFill>
                <a:latin typeface="Arial"/>
                <a:ea typeface="Arial"/>
              </a:rPr>
              <a:t>vs. Enterprise platforms that require company adoption</a:t>
            </a:r>
            <a:endParaRPr b="0" lang="en-CA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6309360" y="1463040"/>
            <a:ext cx="5211720" cy="2102760"/>
          </a:xfrm>
          <a:prstGeom prst="roundRect">
            <a:avLst>
              <a:gd name="adj" fmla="val 6522"/>
            </a:avLst>
          </a:prstGeom>
          <a:solidFill>
            <a:srgbClr val="243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6583680" y="164592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caf50"/>
                </a:solidFill>
                <a:latin typeface="Arial"/>
                <a:ea typeface="Arial"/>
              </a:rPr>
              <a:t>Hard Metrics, Not Soft Ratings</a:t>
            </a:r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6583680" y="210312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Track signings, revenue, utilization, gross profit — real numbers, not 1-5 competency scales.</a:t>
            </a:r>
            <a:endParaRPr b="0" lang="en-CA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6583680" y="28346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caf9"/>
                </a:solidFill>
                <a:latin typeface="Arial"/>
                <a:ea typeface="Arial"/>
              </a:rPr>
              <a:t>vs. Lattice/TalentGuard with generic competency models</a:t>
            </a:r>
            <a:endParaRPr b="0" lang="en-CA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731520" y="3931920"/>
            <a:ext cx="5211720" cy="2102760"/>
          </a:xfrm>
          <a:prstGeom prst="roundRect">
            <a:avLst>
              <a:gd name="adj" fmla="val 6522"/>
            </a:avLst>
          </a:prstGeom>
          <a:solidFill>
            <a:srgbClr val="243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1005840" y="41148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caf50"/>
                </a:solidFill>
                <a:latin typeface="Arial"/>
                <a:ea typeface="Arial"/>
              </a:rPr>
              <a:t>AI Grounded in YOUR Data</a:t>
            </a:r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1005840" y="457200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Gap analysis and narrative generation built on all 7 data domains — scorecard, wins, goals, people, opportunities, story, learning.</a:t>
            </a:r>
            <a:endParaRPr b="0" lang="en-CA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1005840" y="530352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caf9"/>
                </a:solidFill>
                <a:latin typeface="Arial"/>
                <a:ea typeface="Arial"/>
              </a:rPr>
              <a:t>vs. Generic coaching chatbots with no context</a:t>
            </a:r>
            <a:endParaRPr b="0" lang="en-CA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6309360" y="3931920"/>
            <a:ext cx="5211720" cy="2102760"/>
          </a:xfrm>
          <a:prstGeom prst="roundRect">
            <a:avLst>
              <a:gd name="adj" fmla="val 6522"/>
            </a:avLst>
          </a:prstGeom>
          <a:solidFill>
            <a:srgbClr val="243b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6583680" y="41148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caf50"/>
                </a:solidFill>
                <a:latin typeface="Arial"/>
                <a:ea typeface="Arial"/>
              </a:rPr>
              <a:t>Built for the Partner Track</a:t>
            </a:r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6583680" y="457200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Purpose-built for the highest-stakes career transition in professional services: the path to Partner.</a:t>
            </a:r>
            <a:endParaRPr b="0" lang="en-CA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6583680" y="530352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caf9"/>
                </a:solidFill>
                <a:latin typeface="Arial"/>
                <a:ea typeface="Arial"/>
              </a:rPr>
              <a:t>vs. Job search tools that help you leave, not advance</a:t>
            </a:r>
            <a:endParaRPr b="0" lang="en-CA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731520" y="36576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b2a4a"/>
                </a:solidFill>
                <a:latin typeface="Arial"/>
                <a:ea typeface="Arial"/>
              </a:rPr>
              <a:t>Where Competitors Are Better (Honest Assessment)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"/>
          <p:cNvSpPr/>
          <p:nvPr/>
        </p:nvSpPr>
        <p:spPr>
          <a:xfrm>
            <a:off x="731520" y="1051560"/>
            <a:ext cx="1645560" cy="45360"/>
          </a:xfrm>
          <a:prstGeom prst="rect">
            <a:avLst/>
          </a:prstGeom>
          <a:solidFill>
            <a:srgbClr val="e539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731520" y="1371600"/>
            <a:ext cx="10698120" cy="11426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1005840" y="141732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9800"/>
                </a:solidFill>
                <a:latin typeface="Arial"/>
                <a:ea typeface="Arial"/>
              </a:rPr>
              <a:t>Teal's UX &amp; Distribution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005840" y="169164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f2937"/>
                </a:solidFill>
                <a:latin typeface="Arial"/>
                <a:ea typeface="Arial"/>
              </a:rPr>
              <a:t>2M users, $20.7M funded, 265 employees. Polished Chrome extension creates seamless save-from-any-job-board flow. We don't have that level of distribution or polish yet.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1005840" y="210312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caf50"/>
                </a:solidFill>
                <a:latin typeface="Arial"/>
                <a:ea typeface="Arial"/>
              </a:rPr>
              <a:t>Our response: Our depth in promotion tracking is the moat — they can't easily add our features.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731520" y="2651760"/>
            <a:ext cx="10698120" cy="11426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1005840" y="269748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9800"/>
                </a:solidFill>
                <a:latin typeface="Arial"/>
                <a:ea typeface="Arial"/>
              </a:rPr>
              <a:t>Rocky.ai's Habit Loop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1005840" y="297180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f2937"/>
                </a:solidFill>
                <a:latin typeface="Arial"/>
                <a:ea typeface="Arial"/>
              </a:rPr>
              <a:t>Daily 5-min coaching sessions build a habit. Our app requires the user to come in and enter data proactively.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9"/>
          <p:cNvSpPr/>
          <p:nvPr/>
        </p:nvSpPr>
        <p:spPr>
          <a:xfrm>
            <a:off x="1005840" y="338328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caf50"/>
                </a:solidFill>
                <a:latin typeface="Arial"/>
                <a:ea typeface="Arial"/>
              </a:rPr>
              <a:t>Our response: Roadmap includes smart nudges and weekly digest emails to drive engagement.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0"/>
          <p:cNvSpPr/>
          <p:nvPr/>
        </p:nvSpPr>
        <p:spPr>
          <a:xfrm>
            <a:off x="731520" y="3931920"/>
            <a:ext cx="10698120" cy="11426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1005840" y="397764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9800"/>
                </a:solidFill>
                <a:latin typeface="Arial"/>
                <a:ea typeface="Arial"/>
              </a:rPr>
              <a:t>Enterprise Data Advantage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1005840" y="425196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f2937"/>
                </a:solidFill>
                <a:latin typeface="Arial"/>
                <a:ea typeface="Arial"/>
              </a:rPr>
              <a:t>Lattice/Betterworks have real performance review data and 360 feedback flowing automatically. We require manual data entry.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1005840" y="466344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caf50"/>
                </a:solidFill>
                <a:latin typeface="Arial"/>
                <a:ea typeface="Arial"/>
              </a:rPr>
              <a:t>Our response: Bulk import and LinkedIn import reduce friction. 360 feedback adds external input.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4"/>
          <p:cNvSpPr/>
          <p:nvPr/>
        </p:nvSpPr>
        <p:spPr>
          <a:xfrm>
            <a:off x="731520" y="5212080"/>
            <a:ext cx="10698120" cy="11426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1005840" y="525780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9800"/>
                </a:solidFill>
                <a:latin typeface="Arial"/>
                <a:ea typeface="Arial"/>
              </a:rPr>
              <a:t>Brag Doc Simplicity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6"/>
          <p:cNvSpPr/>
          <p:nvPr/>
        </p:nvSpPr>
        <p:spPr>
          <a:xfrm>
            <a:off x="1005840" y="553212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f2937"/>
                </a:solidFill>
                <a:latin typeface="Arial"/>
                <a:ea typeface="Arial"/>
              </a:rPr>
              <a:t>Sometimes "just write down what you did" is all someone needs. Our app asks for more commitment.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1005840" y="594360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caf50"/>
                </a:solidFill>
                <a:latin typeface="Arial"/>
                <a:ea typeface="Arial"/>
              </a:rPr>
              <a:t>Our response: Demo data + onboarding flow lowers barrier. But we serve users who need more than a journal.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731520" y="36576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b2a4a"/>
                </a:solidFill>
                <a:latin typeface="Arial"/>
                <a:ea typeface="Arial"/>
              </a:rPr>
              <a:t>Market Signals &amp; Validation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"/>
          <p:cNvSpPr/>
          <p:nvPr/>
        </p:nvSpPr>
        <p:spPr>
          <a:xfrm>
            <a:off x="731520" y="1051560"/>
            <a:ext cx="1645560" cy="45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731520" y="1371600"/>
            <a:ext cx="5211720" cy="137124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1005840" y="14630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Teal: ~$35M ARR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1005840" y="192024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100K subscribers paying $29/mo for job search tools alone. Career tooling has proven willingness-to-pay.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6309360" y="1371600"/>
            <a:ext cx="5211720" cy="137124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6583680" y="14630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Valence: $75M raised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6583680" y="192024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Series B (Sept 2025) for enterprise AI coaching. Corporates are spending heavily on career development AI.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731520" y="3017520"/>
            <a:ext cx="5211720" cy="137124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1005840" y="3108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$6.3B market by 2027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1005840" y="356616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Grand View Research projection for AI career development. Almost entirely captured by job search and enterprise L&amp;D.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6309360" y="3017520"/>
            <a:ext cx="5211720" cy="137124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6583680" y="3108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2026 AI promotion trend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6583680" y="356616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Ring, Meta, Accenture now require demonstration of AI usage in promotion cases. AI-assisted career strategy is mainstream.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731520" y="4663440"/>
            <a:ext cx="5211720" cy="137124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1005840" y="47548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"Career Command Center" unclaimed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1005840" y="521208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No product, no trademark. The phrase is used generically in blog posts. Brandable and available.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7"/>
          <p:cNvSpPr/>
          <p:nvPr/>
        </p:nvSpPr>
        <p:spPr>
          <a:xfrm>
            <a:off x="6309360" y="4663440"/>
            <a:ext cx="5211720" cy="137124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6583680" y="47548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2a4a"/>
                </a:solidFill>
                <a:latin typeface="Arial"/>
                <a:ea typeface="Arial"/>
              </a:rPr>
              <a:t>Multi-firm expansion path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9"/>
          <p:cNvSpPr/>
          <p:nvPr/>
        </p:nvSpPr>
        <p:spPr>
          <a:xfrm>
            <a:off x="6583680" y="5212080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IBM → Deloitte → EY → Accenture → McKinsey. Same framework, different criteria templates. Natural growth vector.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731520" y="4572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The Moat</a:t>
            </a:r>
            <a:endParaRPr b="0" lang="en-CA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731520" y="1143000"/>
            <a:ext cx="1645560" cy="45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1371600" y="1645920"/>
            <a:ext cx="9417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90caf9"/>
                </a:solidFill>
                <a:latin typeface="Arial"/>
                <a:ea typeface="Arial"/>
              </a:rPr>
              <a:t>Every tool in the market is solving a different problem.</a:t>
            </a:r>
            <a:endParaRPr b="0" lang="en-CA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2286000" y="256032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Job search tools  →  help you leave</a:t>
            </a:r>
            <a:endParaRPr b="0" lang="en-CA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2286000" y="315468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Enterprise platforms  →  require your company to buy in</a:t>
            </a:r>
            <a:endParaRPr b="0" lang="en-CA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2286000" y="374904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Brag doc tools  →  are journals without strategy</a:t>
            </a:r>
            <a:endParaRPr b="0" lang="en-CA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2286000" y="434340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AI coaches  →  are generic conversations</a:t>
            </a:r>
            <a:endParaRPr b="0" lang="en-CA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2286000" y="4937760"/>
            <a:ext cx="7589160" cy="54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CA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1371600" y="5120640"/>
            <a:ext cx="941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caf50"/>
                </a:solidFill>
                <a:latin typeface="Arial"/>
                <a:ea typeface="Arial"/>
              </a:rPr>
              <a:t>We are the only tool that combines promotion criteria + scorecard + CRM +</a:t>
            </a:r>
            <a:endParaRPr b="0" lang="en-CA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caf50"/>
                </a:solidFill>
                <a:latin typeface="Arial"/>
                <a:ea typeface="Arial"/>
              </a:rPr>
              <a:t>pipeline + AI gap analysis + narrative generation for individual professionals.</a:t>
            </a:r>
            <a:endParaRPr b="0" lang="en-CA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1371600" y="5760720"/>
            <a:ext cx="9417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0caf9"/>
                </a:solidFill>
                <a:latin typeface="Arial"/>
                <a:ea typeface="Arial"/>
              </a:rPr>
              <a:t>Our real competition is spreadsheets.</a:t>
            </a:r>
            <a:endParaRPr b="0" lang="en-CA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0caf9"/>
                </a:solidFill>
                <a:latin typeface="Arial"/>
                <a:ea typeface="Arial"/>
              </a:rPr>
              <a:t>We win by being 10x better than a spreadsheet.</a:t>
            </a:r>
            <a:endParaRPr b="0" lang="en-CA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2026-04-08T03:16:43Z</dcterms:created>
  <dc:creator>PptxGenJS</dc:creator>
  <dc:description/>
  <dc:language>en-CA</dc:language>
  <cp:lastModifiedBy/>
  <dcterms:modified xsi:type="dcterms:W3CDTF">2026-04-07T23:30:23Z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